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9"/>
    <p:sldId id="263" r:id="rId8"/>
    <p:sldId id="264" r:id="rId7"/>
    <p:sldId id="265" r:id="rId6"/>
    <p:sldId id="266" r:id="rId5"/>
    <p:sldId id="267" r:id="rId21"/>
    <p:sldId id="268" r:id="rId22"/>
    <p:sldId id="269" r:id="rId23"/>
    <p:sldId id="270" r:id="rId24"/>
    <p:sldId id="271" r:id="rId25"/>
    <p:sldId id="272" r:id="rId26"/>
    <p:sldId id="273" r:id="rId27"/>
  </p:sldIdLst>
  <p:sldSz cx="12192000" cy="6858000"/>
  <p:notesSz cx="6858000" cy="9144000"/>
  <p:defaultTextStyle>
    <a:defPPr>
      <a:defRPr lang="en-US"/>
    </a:defPPr>
    <a:lvl1pPr marL="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7DC"/>
    <a:srgbClr val="F8F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50" autoAdjust="0"/>
    <p:restoredTop sz="94660"/>
  </p:normalViewPr>
  <p:slideViewPr>
    <p:cSldViewPr snapToGrid="0" showGuides="1">
      <p:cViewPr varScale="1">
        <p:scale>
          <a:sx n="121" d="100"/>
          <a:sy n="121" d="100"/>
        </p:scale>
        <p:origin x="496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8.xml"/><Relationship Id="rId9" Type="http://schemas.openxmlformats.org/officeDocument/2006/relationships/slide" Target="slides/slide7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0D2A8-8F95-47C2-ABE1-A779F5A43C98}" type="datetimeFigureOut">
              <a:rPr lang="en-US" smtClean="0"/>
              <a:t>4/19/26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663E2-27CE-4C79-91D3-7F5C4262D5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05595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0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36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3" algn="l" defTabSz="91435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3033340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7264879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4">
            <a:extLst>
              <a:ext uri="{FF2B5EF4-FFF2-40B4-BE49-F238E27FC236}">
                <a16:creationId xmlns:a16="http://schemas.microsoft.com/office/drawing/2014/main" id="{0C35C447-372A-2538-9C02-9DA2222129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CFF1AFD2-F993-B30A-2282-C04F1F65AF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2F13F474-91EA-0185-733B-62682BD9F6E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87072C05-B626-BAF9-5316-96EAB02420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C6EA6C6-1057-DAC8-2609-B6EB51B723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4E258757-AB3A-DE10-FDFE-35B9588E9C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74360D36-2B50-3114-9CB9-4BEE96BCCE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1B032D16-0F2B-1DEC-D92A-ACAF24C07B0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13923343-4541-4792-ADC5-E6333E98D37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802863CF-25C1-DECF-F640-C736ECDB9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3" name="Subtitle 2">
            <a:extLst>
              <a:ext uri="{FF2B5EF4-FFF2-40B4-BE49-F238E27FC236}">
                <a16:creationId xmlns:a16="http://schemas.microsoft.com/office/drawing/2014/main" id="{623E9086-C2CE-8088-D447-C484543077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C53F61BD-18EB-B863-761D-89639D8806F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accent1"/>
                </a:solidFill>
              </a:defRPr>
            </a:lvl2pPr>
            <a:lvl3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668972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E0DA90-2FF2-F36C-F9FF-CD7A192F00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14C7637-5E21-BDDB-D675-718E58535D6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A57B56D4-851E-7242-EAB1-CD5B53E8B9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25FF1F4-36F0-A184-7B99-8F5F4A49C8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198715B-A90B-9B06-A055-401A84B092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9D2E04D5-A2EE-135D-A8C9-6E695F9BCF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8CE0DC1F-799B-3F7A-3A71-D20337A474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E8EAEE22-055F-6869-D50D-D9C8C9082F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EADAC67C-850F-96D3-0962-09E1B4CC3E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683187A0-2E68-170D-55EF-0FA20E7A75B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62882915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98F30683-44FB-4995-47C3-43A7DE5523C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7A24E86-91AA-6A9B-314A-752B77481A0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879B37A-F4A9-2DDA-3FC3-9FC52384AE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3DABC58-132F-2F2F-EB5B-78B30A3D44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DFE51362-844C-B4F1-1A83-A287F312E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E0F57AAB-C462-6A3A-9686-048341EA78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8A0D371A-82CE-1829-AA32-FB790C7A60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EA0DE082-4D8F-8158-56B4-AF85C4A0FA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530CFB56-59E9-38CF-519A-B532B3254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FB5434B5-DD4C-F988-6EBA-085A7DD49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1E34748E-CBEF-26E7-AB9F-696FA5D599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25" name="Text Placeholder 17">
            <a:extLst>
              <a:ext uri="{FF2B5EF4-FFF2-40B4-BE49-F238E27FC236}">
                <a16:creationId xmlns:a16="http://schemas.microsoft.com/office/drawing/2014/main" id="{1DF2DBC8-2D33-BD84-A330-691C8B9797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89336"/>
            <a:ext cx="5579198" cy="740845"/>
          </a:xfrm>
        </p:spPr>
        <p:txBody>
          <a:bodyPr anchor="b"/>
          <a:lstStyle>
            <a:lvl1pPr>
              <a:defRPr sz="2200"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 sz="2200">
                <a:solidFill>
                  <a:schemeClr val="bg1"/>
                </a:solidFill>
              </a:defRPr>
            </a:lvl2pPr>
            <a:lvl3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 sz="220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9999131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3996D-125E-4908-B6F0-50835E42F7CC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8481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E5E2-074F-4C32-9E7C-7D1CD6D9C46F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122023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327819"/>
            <a:ext cx="5163243" cy="3101181"/>
          </a:xfrm>
        </p:spPr>
        <p:txBody>
          <a:bodyPr/>
          <a:lstStyle>
            <a:lvl1pPr>
              <a:defRPr sz="6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4A389-F2F3-48BD-8637-714D04FBE282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025"/>
            <a:ext cx="5777508" cy="3101977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48320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19FE4-6876-B5B6-E975-473C9AD4B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4" y="238870"/>
            <a:ext cx="5163243" cy="3190130"/>
          </a:xfrm>
        </p:spPr>
        <p:txBody>
          <a:bodyPr/>
          <a:lstStyle>
            <a:lvl1pPr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9A3DB1-810F-A8E3-C248-4835CAA99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20F845-3051-4964-8810-4D6B9CEE5602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B777E5-A94F-F8C3-D5F7-C4C35810F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89025-7C4D-C600-55FE-4CBA1AECC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F3EA03B-C9D6-61A6-148F-9BF74F07D9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1" y="327819"/>
            <a:ext cx="5777508" cy="31011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C35426-417C-E41E-5A03-5974D3C79A0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75161828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7850-4A32-48D9-B65E-F551EAA4CC04}" type="datetime1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7466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C62B7-F8E8-4065-A21D-90A8A970CBC5}" type="datetime1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8463841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0AC38-BED1-9031-E2E0-CB195EDFD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26F26-EA3D-40AC-124C-008BE90D7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800" y="1394619"/>
            <a:ext cx="11540763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11D5-984D-8680-D542-25A06BDC5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15E19-1301-44C0-8F27-8B4339EFA248}" type="datetime1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E529F-F811-2979-BFFA-08BB8BC2F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9BFE-A663-D9A7-8252-C85369469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2B454FF-7060-E11B-6122-C9D16BC0604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85261070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3E122-4495-44BA-A4C1-8BE76937A80D}" type="datetime1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35858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EDC06-C956-40EB-B7C2-5D24D2134868}" type="datetime1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0195970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934A7-BB27-0705-778A-9BC1A80F5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232" y="252000"/>
            <a:ext cx="11541025" cy="378044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3D824-2B92-00E0-3B10-2E7351FAE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232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6325E-A8D8-4356-8054-A314C1AF0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3325" y="1394619"/>
            <a:ext cx="5583238" cy="486648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9A4F-CF52-ABB2-91FD-CF9C01BF0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72CD8-4874-4E1A-99A5-6A33EAEAD984}" type="datetime1">
              <a:rPr lang="en-GB" smtClean="0"/>
              <a:t>19/04/2026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5B9B47-9D04-96FB-8B95-D7BC38470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9D9458-0376-0EC1-BA89-A49552E19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3E5619CB-8093-9292-D19B-3E145BB563F3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0747767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3BCF-757C-48E4-AB43-882F0A78532C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4756086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683EC-1E11-45E0-886A-851228B0A8DF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66366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2D4AE-58D3-41BB-8060-5ADF87B91618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23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6397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66562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BB1273F-0B9B-4FDD-4203-5D0C87B419DE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248034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75DBF-6AEB-4550-BEA6-FE6CE3862FB9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7066738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B2C9E-B7BA-48F8-8C95-4A603CB4A0B6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0980370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aption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223E2-CB33-A043-EFAE-5E5920ABF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D07086-8168-2FFB-8A6A-847C21CE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E69-4493-469E-9F6F-0F2C42DABB23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BF319C-1022-A0DE-5680-6E6F7A33A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A01DCF-BF44-5758-3698-48171189D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DDBB1C-FCE2-459F-CD23-42AF9E169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493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284B46C-0DDC-167C-514E-EB0FCC3E4BE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76876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C354167-3149-957E-9D9F-B30D0401417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235258" y="3429000"/>
            <a:ext cx="3600000" cy="2832100"/>
          </a:xfrm>
        </p:spPr>
        <p:txBody>
          <a:bodyPr/>
          <a:lstStyle>
            <a:lvl1pPr rtl="0">
              <a:defRPr sz="1800"/>
            </a:lvl1pPr>
            <a:lvl2pPr rtl="0">
              <a:defRPr sz="1800"/>
            </a:lvl2pPr>
            <a:lvl3pPr rtl="0">
              <a:defRPr sz="1800"/>
            </a:lvl3pPr>
            <a:lvl4pPr rtl="0">
              <a:defRPr sz="1800"/>
            </a:lvl4pPr>
            <a:lvl5pPr rtl="0"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47AD979-9E36-27D3-D861-472A37C9B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18490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BA925AEF-9705-43FC-B311-1B9A5C8724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6876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71EBAC93-1C14-C84A-FF75-AC90D6C8A89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235261" y="1394619"/>
            <a:ext cx="3600000" cy="183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6EB687B-5D2E-6018-5C19-6211E4ADBA8B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423154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67A56-2FF9-491E-814D-0A900175F8E1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934480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982C8-03A6-4D1C-870A-BE728679E492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75397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819"/>
            <a:ext cx="9984000" cy="5933281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533C-450F-4C7A-8669-D1C1D442E9DA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019243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41CF-A3E3-C272-C94C-947AC89C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492" y="327025"/>
            <a:ext cx="9984000" cy="5934075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80FA7-D3DB-DCE0-62D3-E92CDF5E1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1B67106-7FE2-4B8D-9827-B242124A96D0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FF8CC-E316-E641-C9CE-DF3DAA8A6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F5865-014C-FA86-09B0-6C05A0B6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8D6E0-472D-9B14-F3A6-BC2F23E87040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467749574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40A93-6E2C-479B-B487-61050B029E0E}" type="datetime1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3696074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FBB15-756E-4C9B-BAD5-65B8245F1711}" type="datetime1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925788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21AD4-68E5-D832-D55C-9ACFCD153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664A-9D95-4BFD-9EE2-ED03761B5D93}" type="datetime1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EA1B-04BA-0493-81EB-3E7823E19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22947-0466-77E3-9884-7FFF54F0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5A24D7B-41EB-9794-42AE-564F6680E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14EAC6AD-293C-6C12-F9F6-48F5FCB0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750">
                <a:solidFill>
                  <a:schemeClr val="accent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80361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EE2EA-C029-0AE3-B18F-CB5D823CD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916F8D3-3840-4002-A902-CA5665F1877D}" type="datetime1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4AA3B-FC1A-1DAF-C282-4ED6FC740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8A0A1-4076-F926-D730-16EF8BBD7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3E70A2-A3C6-29D0-1DEB-4D8F9283B18B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bg1"/>
                </a:solidFill>
                <a:latin typeface="+mj-lt"/>
              </a:rPr>
              <a:t>Imperial College London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E2710C7-980D-1529-A1C4-D0B914429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2417400"/>
            <a:ext cx="9144000" cy="1847942"/>
          </a:xfrm>
        </p:spPr>
        <p:txBody>
          <a:bodyPr anchor="b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01609BCD-EF9A-DF89-AAD2-167090C57F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251" y="4383000"/>
            <a:ext cx="9144000" cy="1322348"/>
          </a:xfrm>
        </p:spPr>
        <p:txBody>
          <a:bodyPr/>
          <a:lstStyle>
            <a:lvl1pPr marL="0" indent="0" algn="l">
              <a:buNone/>
              <a:defRPr sz="4800">
                <a:solidFill>
                  <a:schemeClr val="bg1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73995235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46E35-447D-4F3F-B312-D5A5B297F989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39635899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253B4-E62F-43A9-95E1-1281FC369A0C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20639597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5C65B-45F4-494F-85C9-F650D9479B4E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52399BF-03C9-B24E-A780-BE7CD263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558367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D02234B-F0AA-AEA6-E636-52276BDE0E86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558367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8D7AD65-3E40-A55B-332E-BB6300B58FD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25800" y="1394619"/>
            <a:ext cx="558367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90AF79-7BDC-6C86-6328-5E1E4E4A08B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773322227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B683-185E-47F3-8B62-B7D69EB8BD5B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065361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46529D-9412-41C5-A6C2-C931A11B8D57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56906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Four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6683B-1327-4EC5-BC3D-F1BC9929DF1D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22200" y="327819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820BEAE3-D117-6A35-4CA0-AD8A32FA8AD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7588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380118A-A6AE-E8BE-5470-901DF79D51DC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22200" y="3336100"/>
            <a:ext cx="3744000" cy="2925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2611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0F3C-9559-4D72-9EA0-55DADACB2573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4966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BB1C3-5A45-497F-BCC7-EC2CAE0BF41E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4684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Nine Images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B9E16-EEE1-449A-9FC3-EC3A45AD75A9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5800" y="1394619"/>
            <a:ext cx="3600000" cy="48664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4920982-7B93-FD28-69A5-DDD95FFDB9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7588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4F7D26A6-576F-735A-7429-EDF64293F6F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83804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CCAACF40-E2EE-B805-06BA-00FF4664A1A7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3600000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D226BA-B259-18A4-2510-39AFB57E0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3600000" cy="37804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3BF8A661-BC32-12AC-2F2D-D852D8FEEC1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00200" y="327028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424D9351-99D0-9E5B-7115-9BACEF47F4E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275880" y="2331064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7E1A1E6C-1250-255D-C128-8D998573C34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83804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707F7AF8-8070-56D1-C887-AB07C4710C1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00200" y="23310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DCCCE168-E156-6A02-DEEC-8F9AC2E8B01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7588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935D5F28-4EFB-7DB6-B73E-ECA9F671D62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3804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BE80ECC-3276-2379-3DA7-E599F908B35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400200" y="4335100"/>
            <a:ext cx="2466000" cy="1926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54154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05C08-4378-4C2A-80FC-85BE4CC22ED2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339553058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99A96-AD1A-4D71-9FB8-4FC24821C6DB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640183430"/>
      </p:ext>
    </p:extLst>
  </p:cSld>
  <p:clrMapOvr>
    <a:masterClrMapping/>
  </p:clrMapOvr>
  <p:transition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04DA1-1F50-4046-AB99-973BFEA76F20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6232" y="327819"/>
            <a:ext cx="558323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62146EC-D096-3118-B564-94943B4AAEC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C8087009-76FB-8577-E442-4BA57C9BC40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290831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2974509294"/>
      </p:ext>
    </p:extLst>
  </p:cSld>
  <p:clrMapOvr>
    <a:masterClrMapping/>
  </p:clrMapOvr>
  <p:transition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F4D7C-325E-46DC-8928-255FD373C96D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785877609"/>
      </p:ext>
    </p:extLst>
  </p:cSld>
  <p:clrMapOvr>
    <a:masterClrMapping/>
  </p:clrMapOvr>
  <p:transition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20609-BB11-4BF4-8697-59822653EB4F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4240842164"/>
      </p:ext>
    </p:extLst>
  </p:cSld>
  <p:clrMapOvr>
    <a:masterClrMapping/>
  </p:clrMapOvr>
  <p:transition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745BD5-0640-F2F6-890F-9A43357F8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4F2A2-6868-407F-8098-72A30A0A7D4F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6E09A-8977-E57B-72B5-46534AF8C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44FC8-3717-4FAD-3024-9B9DB607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4E7D2B8-AE4F-2293-866D-13361A0A4A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91761" y="327819"/>
            <a:ext cx="5574008" cy="5933281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E9D81BEA-7EB3-2BC8-30E0-0E8C91FA2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09D4F2-8CDC-D853-BB4E-3D1330CD34A2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26593" y="328613"/>
            <a:ext cx="5583670" cy="5932487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an icon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782778189"/>
      </p:ext>
    </p:extLst>
  </p:cSld>
  <p:clrMapOvr>
    <a:masterClrMapping/>
  </p:clrMapOvr>
  <p:transition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9DDFD2-A19B-4FDD-86ED-B185BF53816E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306752833"/>
      </p:ext>
    </p:extLst>
  </p:cSld>
  <p:clrMapOvr>
    <a:masterClrMapping/>
  </p:clrMapOvr>
  <p:transition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8818C7-E49D-46B4-A26D-8654FF918181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3115991555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5956E3-49F4-0F54-ECD1-833CCCC18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F4B4E-1431-4713-BED5-A43C1F5596C4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7AF09-A289-B391-8698-2A678677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D67CF9-6C56-BF00-C251-8AA14203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232" y="327819"/>
            <a:ext cx="11541025" cy="5933281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194B053A-20C0-FAD5-8DBE-F33035C94A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92057" y="6393657"/>
            <a:ext cx="2743200" cy="137319"/>
          </a:xfrm>
        </p:spPr>
        <p:txBody>
          <a:bodyPr/>
          <a:lstStyle>
            <a:lvl1pPr>
              <a:defRPr sz="850">
                <a:solidFill>
                  <a:schemeClr val="accent1"/>
                </a:solidFill>
              </a:defRPr>
            </a:lvl1pPr>
            <a:lvl2pPr>
              <a:defRPr sz="850">
                <a:solidFill>
                  <a:schemeClr val="accent1"/>
                </a:solidFill>
              </a:defRPr>
            </a:lvl2pPr>
            <a:lvl3pPr>
              <a:defRPr sz="850">
                <a:solidFill>
                  <a:schemeClr val="accent1"/>
                </a:solidFill>
              </a:defRPr>
            </a:lvl3pPr>
            <a:lvl4pPr>
              <a:defRPr sz="850">
                <a:solidFill>
                  <a:schemeClr val="accent1"/>
                </a:solidFill>
              </a:defRPr>
            </a:lvl4pPr>
            <a:lvl5pPr>
              <a:defRPr sz="85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Image caption goes here</a:t>
            </a:r>
          </a:p>
        </p:txBody>
      </p:sp>
    </p:spTree>
    <p:extLst>
      <p:ext uri="{BB962C8B-B14F-4D97-AF65-F5344CB8AC3E}">
        <p14:creationId xmlns:p14="http://schemas.microsoft.com/office/powerpoint/2010/main" val="285968501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754C307-7FD2-615A-261A-9396C9B3C62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3"/>
            <a:ext cx="12193489" cy="6857999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33404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148999050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658548261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98C9DEC1-150C-501B-2DF1-6E2CB499B66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  <a:solidFill>
            <a:schemeClr val="accent1"/>
          </a:solidFill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E39A89AD-BEB6-79FD-8F05-4DF88E68FE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733ED1C0-423D-3BA1-7D76-5AD063DB49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24321CB6-88B2-41D3-45AD-465FCCF9FFB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8DF50ED-77B5-2CCB-445E-BE59A74640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E46F43E-7289-80AB-2776-B413EE27ED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0C82D5C3-8445-8837-27CE-3B93EA4FA45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2D962E7C-3E08-D166-19E4-74C4922787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F4041540-D57A-59CB-04E7-A52B58E1F1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11696665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8F1E4B3C-5470-00F2-B8CB-BB4906CF439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7D7A316D-6FA6-8EBE-A7B4-43071E70A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1C06CEA-028D-9197-2DEF-67878595AE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DEA93E8D-A827-0EF8-FC25-4EDF7B194E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F359F29-A6DD-FD4C-F807-701DEA41EDF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2468BF6B-AEBB-4CAA-244D-9EBE80B9A1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CC60AC05-547F-FA65-604E-4ED4912EA9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7632E58E-1400-1E6E-BB60-7A9B794F4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D65D159-581D-F29B-BBD4-C1C5BACCEE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4250105972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Image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4">
            <a:extLst>
              <a:ext uri="{FF2B5EF4-FFF2-40B4-BE49-F238E27FC236}">
                <a16:creationId xmlns:a16="http://schemas.microsoft.com/office/drawing/2014/main" id="{3A87AD45-2D2F-D96C-947C-BAE35BFEBEE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11536292" cy="1272297"/>
            <a:chOff x="0" y="3473"/>
            <a:chExt cx="15360" cy="1694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31EDC35F-4F2D-B2A7-1ECD-0CF19D1AD2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97F4776F-4E5E-13DF-F11A-A6808FFFC9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A993AE1-6A24-5C17-7FE2-A16589D9C4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DA87F8EF-CDAD-15A2-A361-88921E1CA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E90186DB-2300-A8AA-8FAD-2C609649A61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31922286-E237-1114-3A54-E1731611D6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1B4DA78C-0EF6-B05D-F2D2-EFEDA343E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A00F92FE-6EB2-0D0E-BFC9-559AD1E7A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2161258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761819100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240818450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790130"/>
            <a:ext cx="5606484" cy="740845"/>
          </a:xfrm>
        </p:spPr>
        <p:txBody>
          <a:bodyPr anchor="b"/>
          <a:lstStyle>
            <a:lvl1pPr>
              <a:defRPr b="1">
                <a:solidFill>
                  <a:schemeClr val="accent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accent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B9815FA8-AE01-67BC-5B0D-996D4CDAD19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  <a:solidFill>
            <a:schemeClr val="accent1"/>
          </a:soli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B1AA775-4CCE-276F-2BCF-CDB5A9211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0FDD9D0-D471-8D20-94AE-C3BC73F88F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CD6C2A08-9069-9582-5D59-A51210F8CB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10C2D08-4FE4-C1FC-5226-E7A45B13D6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8010D1AF-A77E-06AA-9B05-D1DD5EE830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98B53AE0-4719-5655-6BA0-0E7E9ECB8E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AD6D1E9-D44F-9A59-4CB4-033C25A77DA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F58ED361-0E2C-77F6-2830-FBB60D7464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1595170055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Blu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1C1E3-6A7C-C21D-910D-C4B7DFFF5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251" y="3338719"/>
            <a:ext cx="9144000" cy="1828406"/>
          </a:xfrm>
        </p:spPr>
        <p:txBody>
          <a:bodyPr anchor="t"/>
          <a:lstStyle>
            <a:lvl1pPr algn="l">
              <a:defRPr sz="6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1B026B9-3E51-5733-811C-2FA3BC73B2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0271" y="5878288"/>
            <a:ext cx="5606484" cy="652688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  <a:latin typeface="+mj-lt"/>
                <a:ea typeface="Inter Medium" panose="0200050300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3pPr>
            <a:lvl4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4pPr>
            <a:lvl5pPr>
              <a:defRPr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49CC1682-CCAA-5EE1-585E-F7C4434F1C5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0271" y="327819"/>
            <a:ext cx="3972600" cy="438124"/>
            <a:chOff x="0" y="3473"/>
            <a:chExt cx="15360" cy="169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770403FB-3386-A0FE-3E9D-A2925EF0E8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261" y="3473"/>
              <a:ext cx="1099" cy="1694"/>
            </a:xfrm>
            <a:custGeom>
              <a:avLst/>
              <a:gdLst>
                <a:gd name="T0" fmla="*/ 0 w 1099"/>
                <a:gd name="T1" fmla="*/ 0 h 1694"/>
                <a:gd name="T2" fmla="*/ 0 w 1099"/>
                <a:gd name="T3" fmla="*/ 1694 h 1694"/>
                <a:gd name="T4" fmla="*/ 1099 w 1099"/>
                <a:gd name="T5" fmla="*/ 1694 h 1694"/>
                <a:gd name="T6" fmla="*/ 1099 w 1099"/>
                <a:gd name="T7" fmla="*/ 1397 h 1694"/>
                <a:gd name="T8" fmla="*/ 319 w 1099"/>
                <a:gd name="T9" fmla="*/ 1397 h 1694"/>
                <a:gd name="T10" fmla="*/ 319 w 1099"/>
                <a:gd name="T11" fmla="*/ 0 h 1694"/>
                <a:gd name="T12" fmla="*/ 0 w 1099"/>
                <a:gd name="T13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99" h="1694">
                  <a:moveTo>
                    <a:pt x="0" y="0"/>
                  </a:moveTo>
                  <a:lnTo>
                    <a:pt x="0" y="1694"/>
                  </a:lnTo>
                  <a:lnTo>
                    <a:pt x="1099" y="1694"/>
                  </a:lnTo>
                  <a:lnTo>
                    <a:pt x="1099" y="1397"/>
                  </a:lnTo>
                  <a:lnTo>
                    <a:pt x="319" y="1397"/>
                  </a:lnTo>
                  <a:lnTo>
                    <a:pt x="3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2CDC1DE-179E-04D4-B493-BF069DE85D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002" y="3473"/>
              <a:ext cx="1535" cy="1694"/>
            </a:xfrm>
            <a:custGeom>
              <a:avLst/>
              <a:gdLst>
                <a:gd name="T0" fmla="*/ 556 w 1535"/>
                <a:gd name="T1" fmla="*/ 0 h 1694"/>
                <a:gd name="T2" fmla="*/ 0 w 1535"/>
                <a:gd name="T3" fmla="*/ 1694 h 1694"/>
                <a:gd name="T4" fmla="*/ 337 w 1535"/>
                <a:gd name="T5" fmla="*/ 1694 h 1694"/>
                <a:gd name="T6" fmla="*/ 453 w 1535"/>
                <a:gd name="T7" fmla="*/ 1321 h 1694"/>
                <a:gd name="T8" fmla="*/ 1083 w 1535"/>
                <a:gd name="T9" fmla="*/ 1321 h 1694"/>
                <a:gd name="T10" fmla="*/ 1197 w 1535"/>
                <a:gd name="T11" fmla="*/ 1694 h 1694"/>
                <a:gd name="T12" fmla="*/ 1535 w 1535"/>
                <a:gd name="T13" fmla="*/ 1694 h 1694"/>
                <a:gd name="T14" fmla="*/ 978 w 1535"/>
                <a:gd name="T15" fmla="*/ 0 h 1694"/>
                <a:gd name="T16" fmla="*/ 556 w 1535"/>
                <a:gd name="T17" fmla="*/ 0 h 1694"/>
                <a:gd name="T18" fmla="*/ 768 w 1535"/>
                <a:gd name="T19" fmla="*/ 301 h 1694"/>
                <a:gd name="T20" fmla="*/ 998 w 1535"/>
                <a:gd name="T21" fmla="*/ 1048 h 1694"/>
                <a:gd name="T22" fmla="*/ 536 w 1535"/>
                <a:gd name="T23" fmla="*/ 1048 h 1694"/>
                <a:gd name="T24" fmla="*/ 768 w 1535"/>
                <a:gd name="T25" fmla="*/ 301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35" h="1694">
                  <a:moveTo>
                    <a:pt x="556" y="0"/>
                  </a:moveTo>
                  <a:lnTo>
                    <a:pt x="0" y="1694"/>
                  </a:lnTo>
                  <a:lnTo>
                    <a:pt x="337" y="1694"/>
                  </a:lnTo>
                  <a:lnTo>
                    <a:pt x="453" y="1321"/>
                  </a:lnTo>
                  <a:lnTo>
                    <a:pt x="1083" y="1321"/>
                  </a:lnTo>
                  <a:lnTo>
                    <a:pt x="1197" y="1694"/>
                  </a:lnTo>
                  <a:lnTo>
                    <a:pt x="1535" y="1694"/>
                  </a:lnTo>
                  <a:lnTo>
                    <a:pt x="978" y="0"/>
                  </a:lnTo>
                  <a:lnTo>
                    <a:pt x="556" y="0"/>
                  </a:lnTo>
                  <a:close/>
                  <a:moveTo>
                    <a:pt x="768" y="301"/>
                  </a:moveTo>
                  <a:lnTo>
                    <a:pt x="998" y="1048"/>
                  </a:lnTo>
                  <a:lnTo>
                    <a:pt x="536" y="1048"/>
                  </a:lnTo>
                  <a:lnTo>
                    <a:pt x="768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B9A68412-C85B-6332-8B98-2635795BBA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25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6 w 1113"/>
                <a:gd name="T5" fmla="*/ 297 h 1694"/>
                <a:gd name="T6" fmla="*/ 396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6 w 1113"/>
                <a:gd name="T17" fmla="*/ 1397 h 1694"/>
                <a:gd name="T18" fmla="*/ 716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6" y="297"/>
                  </a:lnTo>
                  <a:lnTo>
                    <a:pt x="396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6" y="1397"/>
                  </a:lnTo>
                  <a:lnTo>
                    <a:pt x="716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9ECB875-34C4-65FF-6CDA-1356F6BC76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263" y="3473"/>
              <a:ext cx="1317" cy="1694"/>
            </a:xfrm>
            <a:custGeom>
              <a:avLst/>
              <a:gdLst>
                <a:gd name="T0" fmla="*/ 884 w 932"/>
                <a:gd name="T1" fmla="*/ 372 h 1199"/>
                <a:gd name="T2" fmla="*/ 442 w 932"/>
                <a:gd name="T3" fmla="*/ 0 h 1199"/>
                <a:gd name="T4" fmla="*/ 0 w 932"/>
                <a:gd name="T5" fmla="*/ 0 h 1199"/>
                <a:gd name="T6" fmla="*/ 0 w 932"/>
                <a:gd name="T7" fmla="*/ 1199 h 1199"/>
                <a:gd name="T8" fmla="*/ 227 w 932"/>
                <a:gd name="T9" fmla="*/ 1199 h 1199"/>
                <a:gd name="T10" fmla="*/ 227 w 932"/>
                <a:gd name="T11" fmla="*/ 755 h 1199"/>
                <a:gd name="T12" fmla="*/ 418 w 932"/>
                <a:gd name="T13" fmla="*/ 755 h 1199"/>
                <a:gd name="T14" fmla="*/ 450 w 932"/>
                <a:gd name="T15" fmla="*/ 755 h 1199"/>
                <a:gd name="T16" fmla="*/ 681 w 932"/>
                <a:gd name="T17" fmla="*/ 1199 h 1199"/>
                <a:gd name="T18" fmla="*/ 932 w 932"/>
                <a:gd name="T19" fmla="*/ 1199 h 1199"/>
                <a:gd name="T20" fmla="*/ 676 w 932"/>
                <a:gd name="T21" fmla="*/ 707 h 1199"/>
                <a:gd name="T22" fmla="*/ 884 w 932"/>
                <a:gd name="T23" fmla="*/ 372 h 1199"/>
                <a:gd name="T24" fmla="*/ 645 w 932"/>
                <a:gd name="T25" fmla="*/ 372 h 1199"/>
                <a:gd name="T26" fmla="*/ 418 w 932"/>
                <a:gd name="T27" fmla="*/ 562 h 1199"/>
                <a:gd name="T28" fmla="*/ 227 w 932"/>
                <a:gd name="T29" fmla="*/ 562 h 1199"/>
                <a:gd name="T30" fmla="*/ 227 w 932"/>
                <a:gd name="T31" fmla="*/ 194 h 1199"/>
                <a:gd name="T32" fmla="*/ 418 w 932"/>
                <a:gd name="T33" fmla="*/ 194 h 1199"/>
                <a:gd name="T34" fmla="*/ 645 w 932"/>
                <a:gd name="T35" fmla="*/ 372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32" h="1199">
                  <a:moveTo>
                    <a:pt x="884" y="372"/>
                  </a:moveTo>
                  <a:cubicBezTo>
                    <a:pt x="884" y="92"/>
                    <a:pt x="693" y="0"/>
                    <a:pt x="4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227" y="755"/>
                    <a:pt x="227" y="755"/>
                    <a:pt x="227" y="755"/>
                  </a:cubicBezTo>
                  <a:cubicBezTo>
                    <a:pt x="418" y="755"/>
                    <a:pt x="418" y="755"/>
                    <a:pt x="418" y="755"/>
                  </a:cubicBezTo>
                  <a:cubicBezTo>
                    <a:pt x="429" y="755"/>
                    <a:pt x="439" y="755"/>
                    <a:pt x="450" y="755"/>
                  </a:cubicBezTo>
                  <a:cubicBezTo>
                    <a:pt x="681" y="1199"/>
                    <a:pt x="681" y="1199"/>
                    <a:pt x="681" y="1199"/>
                  </a:cubicBezTo>
                  <a:cubicBezTo>
                    <a:pt x="932" y="1199"/>
                    <a:pt x="932" y="1199"/>
                    <a:pt x="932" y="1199"/>
                  </a:cubicBezTo>
                  <a:cubicBezTo>
                    <a:pt x="676" y="707"/>
                    <a:pt x="676" y="707"/>
                    <a:pt x="676" y="707"/>
                  </a:cubicBezTo>
                  <a:cubicBezTo>
                    <a:pt x="801" y="652"/>
                    <a:pt x="884" y="545"/>
                    <a:pt x="884" y="372"/>
                  </a:cubicBezTo>
                  <a:moveTo>
                    <a:pt x="645" y="372"/>
                  </a:moveTo>
                  <a:cubicBezTo>
                    <a:pt x="645" y="516"/>
                    <a:pt x="562" y="562"/>
                    <a:pt x="418" y="562"/>
                  </a:cubicBezTo>
                  <a:cubicBezTo>
                    <a:pt x="227" y="562"/>
                    <a:pt x="227" y="562"/>
                    <a:pt x="227" y="562"/>
                  </a:cubicBezTo>
                  <a:cubicBezTo>
                    <a:pt x="227" y="194"/>
                    <a:pt x="227" y="194"/>
                    <a:pt x="227" y="194"/>
                  </a:cubicBezTo>
                  <a:cubicBezTo>
                    <a:pt x="418" y="194"/>
                    <a:pt x="418" y="194"/>
                    <a:pt x="418" y="194"/>
                  </a:cubicBezTo>
                  <a:cubicBezTo>
                    <a:pt x="574" y="194"/>
                    <a:pt x="645" y="252"/>
                    <a:pt x="645" y="37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D3B5B848-7A8D-931B-DFC2-C5B37B8DB6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369" y="3473"/>
              <a:ext cx="1098" cy="1694"/>
            </a:xfrm>
            <a:custGeom>
              <a:avLst/>
              <a:gdLst>
                <a:gd name="T0" fmla="*/ 0 w 1098"/>
                <a:gd name="T1" fmla="*/ 0 h 1694"/>
                <a:gd name="T2" fmla="*/ 0 w 1098"/>
                <a:gd name="T3" fmla="*/ 1694 h 1694"/>
                <a:gd name="T4" fmla="*/ 1098 w 1098"/>
                <a:gd name="T5" fmla="*/ 1694 h 1694"/>
                <a:gd name="T6" fmla="*/ 1098 w 1098"/>
                <a:gd name="T7" fmla="*/ 1397 h 1694"/>
                <a:gd name="T8" fmla="*/ 321 w 1098"/>
                <a:gd name="T9" fmla="*/ 1397 h 1694"/>
                <a:gd name="T10" fmla="*/ 321 w 1098"/>
                <a:gd name="T11" fmla="*/ 973 h 1694"/>
                <a:gd name="T12" fmla="*/ 1030 w 1098"/>
                <a:gd name="T13" fmla="*/ 973 h 1694"/>
                <a:gd name="T14" fmla="*/ 1030 w 1098"/>
                <a:gd name="T15" fmla="*/ 687 h 1694"/>
                <a:gd name="T16" fmla="*/ 321 w 1098"/>
                <a:gd name="T17" fmla="*/ 687 h 1694"/>
                <a:gd name="T18" fmla="*/ 321 w 1098"/>
                <a:gd name="T19" fmla="*/ 297 h 1694"/>
                <a:gd name="T20" fmla="*/ 1098 w 1098"/>
                <a:gd name="T21" fmla="*/ 297 h 1694"/>
                <a:gd name="T22" fmla="*/ 1098 w 1098"/>
                <a:gd name="T23" fmla="*/ 0 h 1694"/>
                <a:gd name="T24" fmla="*/ 0 w 1098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98" h="1694">
                  <a:moveTo>
                    <a:pt x="0" y="0"/>
                  </a:moveTo>
                  <a:lnTo>
                    <a:pt x="0" y="1694"/>
                  </a:lnTo>
                  <a:lnTo>
                    <a:pt x="1098" y="1694"/>
                  </a:lnTo>
                  <a:lnTo>
                    <a:pt x="1098" y="1397"/>
                  </a:lnTo>
                  <a:lnTo>
                    <a:pt x="321" y="1397"/>
                  </a:lnTo>
                  <a:lnTo>
                    <a:pt x="321" y="973"/>
                  </a:lnTo>
                  <a:lnTo>
                    <a:pt x="1030" y="973"/>
                  </a:lnTo>
                  <a:lnTo>
                    <a:pt x="1030" y="687"/>
                  </a:lnTo>
                  <a:lnTo>
                    <a:pt x="321" y="687"/>
                  </a:lnTo>
                  <a:lnTo>
                    <a:pt x="321" y="297"/>
                  </a:lnTo>
                  <a:lnTo>
                    <a:pt x="1098" y="297"/>
                  </a:lnTo>
                  <a:lnTo>
                    <a:pt x="10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361AABDF-9542-DBC6-6388-ABE2035BE7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481" y="3473"/>
              <a:ext cx="1215" cy="1694"/>
            </a:xfrm>
            <a:custGeom>
              <a:avLst/>
              <a:gdLst>
                <a:gd name="T0" fmla="*/ 406 w 860"/>
                <a:gd name="T1" fmla="*/ 791 h 1199"/>
                <a:gd name="T2" fmla="*/ 227 w 860"/>
                <a:gd name="T3" fmla="*/ 791 h 1199"/>
                <a:gd name="T4" fmla="*/ 227 w 860"/>
                <a:gd name="T5" fmla="*/ 1199 h 1199"/>
                <a:gd name="T6" fmla="*/ 0 w 860"/>
                <a:gd name="T7" fmla="*/ 1199 h 1199"/>
                <a:gd name="T8" fmla="*/ 0 w 860"/>
                <a:gd name="T9" fmla="*/ 0 h 1199"/>
                <a:gd name="T10" fmla="*/ 406 w 860"/>
                <a:gd name="T11" fmla="*/ 0 h 1199"/>
                <a:gd name="T12" fmla="*/ 860 w 860"/>
                <a:gd name="T13" fmla="*/ 396 h 1199"/>
                <a:gd name="T14" fmla="*/ 406 w 860"/>
                <a:gd name="T15" fmla="*/ 791 h 1199"/>
                <a:gd name="T16" fmla="*/ 394 w 860"/>
                <a:gd name="T17" fmla="*/ 194 h 1199"/>
                <a:gd name="T18" fmla="*/ 227 w 860"/>
                <a:gd name="T19" fmla="*/ 194 h 1199"/>
                <a:gd name="T20" fmla="*/ 227 w 860"/>
                <a:gd name="T21" fmla="*/ 598 h 1199"/>
                <a:gd name="T22" fmla="*/ 394 w 860"/>
                <a:gd name="T23" fmla="*/ 598 h 1199"/>
                <a:gd name="T24" fmla="*/ 621 w 860"/>
                <a:gd name="T25" fmla="*/ 396 h 1199"/>
                <a:gd name="T26" fmla="*/ 394 w 860"/>
                <a:gd name="T27" fmla="*/ 194 h 1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60" h="1199">
                  <a:moveTo>
                    <a:pt x="406" y="791"/>
                  </a:moveTo>
                  <a:cubicBezTo>
                    <a:pt x="227" y="791"/>
                    <a:pt x="227" y="791"/>
                    <a:pt x="227" y="791"/>
                  </a:cubicBezTo>
                  <a:cubicBezTo>
                    <a:pt x="227" y="1199"/>
                    <a:pt x="227" y="1199"/>
                    <a:pt x="227" y="1199"/>
                  </a:cubicBezTo>
                  <a:cubicBezTo>
                    <a:pt x="0" y="1199"/>
                    <a:pt x="0" y="1199"/>
                    <a:pt x="0" y="119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06" y="0"/>
                    <a:pt x="406" y="0"/>
                    <a:pt x="406" y="0"/>
                  </a:cubicBezTo>
                  <a:cubicBezTo>
                    <a:pt x="661" y="0"/>
                    <a:pt x="860" y="116"/>
                    <a:pt x="860" y="396"/>
                  </a:cubicBezTo>
                  <a:cubicBezTo>
                    <a:pt x="860" y="671"/>
                    <a:pt x="659" y="791"/>
                    <a:pt x="406" y="791"/>
                  </a:cubicBezTo>
                  <a:moveTo>
                    <a:pt x="394" y="194"/>
                  </a:moveTo>
                  <a:cubicBezTo>
                    <a:pt x="227" y="194"/>
                    <a:pt x="227" y="194"/>
                    <a:pt x="227" y="194"/>
                  </a:cubicBezTo>
                  <a:cubicBezTo>
                    <a:pt x="227" y="598"/>
                    <a:pt x="227" y="598"/>
                    <a:pt x="227" y="598"/>
                  </a:cubicBezTo>
                  <a:cubicBezTo>
                    <a:pt x="394" y="598"/>
                    <a:pt x="394" y="598"/>
                    <a:pt x="394" y="598"/>
                  </a:cubicBezTo>
                  <a:cubicBezTo>
                    <a:pt x="525" y="598"/>
                    <a:pt x="621" y="534"/>
                    <a:pt x="621" y="396"/>
                  </a:cubicBezTo>
                  <a:cubicBezTo>
                    <a:pt x="621" y="252"/>
                    <a:pt x="525" y="194"/>
                    <a:pt x="394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057C10C3-A39D-D1F6-3C50-91EC9A5E76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45" y="3473"/>
              <a:ext cx="1720" cy="1694"/>
            </a:xfrm>
            <a:custGeom>
              <a:avLst/>
              <a:gdLst>
                <a:gd name="T0" fmla="*/ 1265 w 1720"/>
                <a:gd name="T1" fmla="*/ 0 h 1694"/>
                <a:gd name="T2" fmla="*/ 860 w 1720"/>
                <a:gd name="T3" fmla="*/ 996 h 1694"/>
                <a:gd name="T4" fmla="*/ 456 w 1720"/>
                <a:gd name="T5" fmla="*/ 0 h 1694"/>
                <a:gd name="T6" fmla="*/ 0 w 1720"/>
                <a:gd name="T7" fmla="*/ 0 h 1694"/>
                <a:gd name="T8" fmla="*/ 0 w 1720"/>
                <a:gd name="T9" fmla="*/ 1694 h 1694"/>
                <a:gd name="T10" fmla="*/ 303 w 1720"/>
                <a:gd name="T11" fmla="*/ 1694 h 1694"/>
                <a:gd name="T12" fmla="*/ 303 w 1720"/>
                <a:gd name="T13" fmla="*/ 428 h 1694"/>
                <a:gd name="T14" fmla="*/ 692 w 1720"/>
                <a:gd name="T15" fmla="*/ 1321 h 1694"/>
                <a:gd name="T16" fmla="*/ 709 w 1720"/>
                <a:gd name="T17" fmla="*/ 1321 h 1694"/>
                <a:gd name="T18" fmla="*/ 1012 w 1720"/>
                <a:gd name="T19" fmla="*/ 1321 h 1694"/>
                <a:gd name="T20" fmla="*/ 1029 w 1720"/>
                <a:gd name="T21" fmla="*/ 1321 h 1694"/>
                <a:gd name="T22" fmla="*/ 1416 w 1720"/>
                <a:gd name="T23" fmla="*/ 428 h 1694"/>
                <a:gd name="T24" fmla="*/ 1416 w 1720"/>
                <a:gd name="T25" fmla="*/ 1694 h 1694"/>
                <a:gd name="T26" fmla="*/ 1720 w 1720"/>
                <a:gd name="T27" fmla="*/ 1694 h 1694"/>
                <a:gd name="T28" fmla="*/ 1720 w 1720"/>
                <a:gd name="T29" fmla="*/ 0 h 1694"/>
                <a:gd name="T30" fmla="*/ 1265 w 1720"/>
                <a:gd name="T31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20" h="1694">
                  <a:moveTo>
                    <a:pt x="1265" y="0"/>
                  </a:moveTo>
                  <a:lnTo>
                    <a:pt x="860" y="996"/>
                  </a:lnTo>
                  <a:lnTo>
                    <a:pt x="456" y="0"/>
                  </a:lnTo>
                  <a:lnTo>
                    <a:pt x="0" y="0"/>
                  </a:lnTo>
                  <a:lnTo>
                    <a:pt x="0" y="1694"/>
                  </a:lnTo>
                  <a:lnTo>
                    <a:pt x="303" y="1694"/>
                  </a:lnTo>
                  <a:lnTo>
                    <a:pt x="303" y="428"/>
                  </a:lnTo>
                  <a:lnTo>
                    <a:pt x="692" y="1321"/>
                  </a:lnTo>
                  <a:lnTo>
                    <a:pt x="709" y="1321"/>
                  </a:lnTo>
                  <a:lnTo>
                    <a:pt x="1012" y="1321"/>
                  </a:lnTo>
                  <a:lnTo>
                    <a:pt x="1029" y="1321"/>
                  </a:lnTo>
                  <a:lnTo>
                    <a:pt x="1416" y="428"/>
                  </a:lnTo>
                  <a:lnTo>
                    <a:pt x="1416" y="1694"/>
                  </a:lnTo>
                  <a:lnTo>
                    <a:pt x="1720" y="1694"/>
                  </a:lnTo>
                  <a:lnTo>
                    <a:pt x="1720" y="0"/>
                  </a:lnTo>
                  <a:lnTo>
                    <a:pt x="12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E4DD9B4A-92B0-0B9A-755B-A13B032A85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3473"/>
              <a:ext cx="1113" cy="1694"/>
            </a:xfrm>
            <a:custGeom>
              <a:avLst/>
              <a:gdLst>
                <a:gd name="T0" fmla="*/ 0 w 1113"/>
                <a:gd name="T1" fmla="*/ 0 h 1694"/>
                <a:gd name="T2" fmla="*/ 0 w 1113"/>
                <a:gd name="T3" fmla="*/ 297 h 1694"/>
                <a:gd name="T4" fmla="*/ 397 w 1113"/>
                <a:gd name="T5" fmla="*/ 297 h 1694"/>
                <a:gd name="T6" fmla="*/ 397 w 1113"/>
                <a:gd name="T7" fmla="*/ 1397 h 1694"/>
                <a:gd name="T8" fmla="*/ 0 w 1113"/>
                <a:gd name="T9" fmla="*/ 1397 h 1694"/>
                <a:gd name="T10" fmla="*/ 0 w 1113"/>
                <a:gd name="T11" fmla="*/ 1694 h 1694"/>
                <a:gd name="T12" fmla="*/ 1113 w 1113"/>
                <a:gd name="T13" fmla="*/ 1694 h 1694"/>
                <a:gd name="T14" fmla="*/ 1113 w 1113"/>
                <a:gd name="T15" fmla="*/ 1397 h 1694"/>
                <a:gd name="T16" fmla="*/ 717 w 1113"/>
                <a:gd name="T17" fmla="*/ 1397 h 1694"/>
                <a:gd name="T18" fmla="*/ 717 w 1113"/>
                <a:gd name="T19" fmla="*/ 297 h 1694"/>
                <a:gd name="T20" fmla="*/ 1113 w 1113"/>
                <a:gd name="T21" fmla="*/ 297 h 1694"/>
                <a:gd name="T22" fmla="*/ 1113 w 1113"/>
                <a:gd name="T23" fmla="*/ 0 h 1694"/>
                <a:gd name="T24" fmla="*/ 0 w 1113"/>
                <a:gd name="T25" fmla="*/ 0 h 1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113" h="1694">
                  <a:moveTo>
                    <a:pt x="0" y="0"/>
                  </a:moveTo>
                  <a:lnTo>
                    <a:pt x="0" y="297"/>
                  </a:lnTo>
                  <a:lnTo>
                    <a:pt x="397" y="297"/>
                  </a:lnTo>
                  <a:lnTo>
                    <a:pt x="397" y="1397"/>
                  </a:lnTo>
                  <a:lnTo>
                    <a:pt x="0" y="1397"/>
                  </a:lnTo>
                  <a:lnTo>
                    <a:pt x="0" y="1694"/>
                  </a:lnTo>
                  <a:lnTo>
                    <a:pt x="1113" y="1694"/>
                  </a:lnTo>
                  <a:lnTo>
                    <a:pt x="1113" y="1397"/>
                  </a:lnTo>
                  <a:lnTo>
                    <a:pt x="717" y="1397"/>
                  </a:lnTo>
                  <a:lnTo>
                    <a:pt x="717" y="297"/>
                  </a:lnTo>
                  <a:lnTo>
                    <a:pt x="1113" y="297"/>
                  </a:lnTo>
                  <a:lnTo>
                    <a:pt x="11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00"/>
            </a:p>
          </p:txBody>
        </p:sp>
      </p:grpSp>
    </p:spTree>
    <p:extLst>
      <p:ext uri="{BB962C8B-B14F-4D97-AF65-F5344CB8AC3E}">
        <p14:creationId xmlns:p14="http://schemas.microsoft.com/office/powerpoint/2010/main" val="3000926829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038C-7537-45C4-BC31-19A4CC76608A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181825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A9E25-142E-4760-8666-599A78D60753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701506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36668-9440-2FC4-1A20-CEA2160E1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A156BD-F388-30EA-2720-04061953B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32C0C-5320-426A-9514-B5BB83F873AE}" type="datetime1">
              <a:rPr lang="en-GB" smtClean="0"/>
              <a:t>19/04/2026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BFEE-0509-16B7-5DAE-5E0DB02DD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AB126A-2C1E-4241-BBEB-C3AA6FE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358139-EACE-E729-C3E3-AD890A6D0F80}"/>
              </a:ext>
            </a:extLst>
          </p:cNvPr>
          <p:cNvSpPr>
            <a:spLocks noGrp="1"/>
          </p:cNvSpPr>
          <p:nvPr>
            <p:ph type="subTitle" idx="13"/>
          </p:nvPr>
        </p:nvSpPr>
        <p:spPr>
          <a:xfrm>
            <a:off x="325800" y="620196"/>
            <a:ext cx="11540763" cy="371567"/>
          </a:xfrm>
        </p:spPr>
        <p:txBody>
          <a:bodyPr/>
          <a:lstStyle>
            <a:lvl1pPr marL="0" indent="0" algn="l">
              <a:lnSpc>
                <a:spcPct val="90000"/>
              </a:lnSpc>
              <a:buNone/>
              <a:defRPr sz="2600">
                <a:solidFill>
                  <a:schemeClr val="accent3"/>
                </a:solidFill>
                <a:latin typeface="+mn-lt"/>
                <a:ea typeface="Inter Medium" panose="02000503000000020004" pitchFamily="2" charset="0"/>
              </a:defRPr>
            </a:lvl1pPr>
            <a:lvl2pPr marL="342882" indent="0" algn="ctr">
              <a:buNone/>
              <a:defRPr sz="1500"/>
            </a:lvl2pPr>
            <a:lvl3pPr marL="685765" indent="0" algn="ctr">
              <a:buNone/>
              <a:defRPr sz="1350"/>
            </a:lvl3pPr>
            <a:lvl4pPr marL="1028647" indent="0" algn="ctr">
              <a:buNone/>
              <a:defRPr sz="1200"/>
            </a:lvl4pPr>
            <a:lvl5pPr marL="1371530" indent="0" algn="ctr">
              <a:buNone/>
              <a:defRPr sz="1200"/>
            </a:lvl5pPr>
            <a:lvl6pPr marL="1714412" indent="0" algn="ctr">
              <a:buNone/>
              <a:defRPr sz="1200"/>
            </a:lvl6pPr>
            <a:lvl7pPr marL="2057295" indent="0" algn="ctr">
              <a:buNone/>
              <a:defRPr sz="1200"/>
            </a:lvl7pPr>
            <a:lvl8pPr marL="2400177" indent="0" algn="ctr">
              <a:buNone/>
              <a:defRPr sz="1200"/>
            </a:lvl8pPr>
            <a:lvl9pPr marL="274306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909866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563C1-8B3D-4242-8BBB-2FEB2725DAC9}" type="datetime1">
              <a:rPr lang="en-GB" smtClean="0"/>
              <a:t>19/04/2026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464979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mok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30E4-EC35-42CE-9A21-653C43AB9D97}" type="datetime1">
              <a:rPr lang="en-GB" smtClean="0"/>
              <a:t>19/04/2026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7168227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Khaki">
    <p:bg>
      <p:bgPr>
        <a:solidFill>
          <a:srgbClr val="FBF7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01DE9-7247-71C2-3301-8F43BD94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2DF983-3AD9-45E2-9CD5-5871D2EB91F5}" type="datetime1">
              <a:rPr lang="en-GB" smtClean="0"/>
              <a:t>19/04/2026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F1F649-B08E-D628-15EF-6CAEE9855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EDFB5-B3BA-ADA8-4600-FCDAFA1A8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3E11-492D-48B3-9F9B-09541CA2A39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112911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0F4440-CEDC-0D92-E0D5-5C1E3B59B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00" y="252000"/>
            <a:ext cx="11540763" cy="3780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CA021F-8558-9528-DA3D-486CCDBEB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6232" y="1394619"/>
            <a:ext cx="11541025" cy="48664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1A8F0-AC4B-E4A0-94D0-99C4BFD97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1349" y="6393702"/>
            <a:ext cx="1233647" cy="13727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r">
              <a:defRPr sz="850">
                <a:solidFill>
                  <a:schemeClr val="accent1"/>
                </a:solidFill>
              </a:defRPr>
            </a:lvl1pPr>
          </a:lstStyle>
          <a:p>
            <a:fld id="{644011B4-2383-4A6D-84D7-C0A7DC378FD8}" type="datetime1">
              <a:rPr lang="en-GB" smtClean="0"/>
              <a:t>19/04/2026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0FC7A-298A-77A0-6596-56B0B3FD8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65261" y="6393702"/>
            <a:ext cx="3423452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50">
                <a:solidFill>
                  <a:schemeClr val="accent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17C40-7EB7-0CFD-6F6C-54AE57DE1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36755" y="6393702"/>
            <a:ext cx="318491" cy="13727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>
              <a:defRPr sz="850" b="1">
                <a:solidFill>
                  <a:schemeClr val="accent1"/>
                </a:solidFill>
              </a:defRPr>
            </a:lvl1pPr>
          </a:lstStyle>
          <a:p>
            <a:fld id="{CBA53E11-492D-48B3-9F9B-09541CA2A39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6CDD9-97E9-735B-8549-0F3AE3CCAC58}"/>
              </a:ext>
            </a:extLst>
          </p:cNvPr>
          <p:cNvSpPr txBox="1"/>
          <p:nvPr userDrawn="1"/>
        </p:nvSpPr>
        <p:spPr>
          <a:xfrm>
            <a:off x="326232" y="6393702"/>
            <a:ext cx="1417500" cy="137272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l"/>
            <a:r>
              <a:rPr lang="en-US" sz="850" b="0" dirty="0">
                <a:solidFill>
                  <a:schemeClr val="accent1"/>
                </a:solidFill>
                <a:latin typeface="+mj-lt"/>
              </a:rPr>
              <a:t>Imperial College London</a:t>
            </a:r>
          </a:p>
        </p:txBody>
      </p:sp>
    </p:spTree>
    <p:extLst>
      <p:ext uri="{BB962C8B-B14F-4D97-AF65-F5344CB8AC3E}">
        <p14:creationId xmlns:p14="http://schemas.microsoft.com/office/powerpoint/2010/main" val="1145082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79" r:id="rId2"/>
    <p:sldLayoutId id="2147483680" r:id="rId3"/>
    <p:sldLayoutId id="2147483649" r:id="rId4"/>
    <p:sldLayoutId id="2147483657" r:id="rId5"/>
    <p:sldLayoutId id="2147483658" r:id="rId6"/>
    <p:sldLayoutId id="2147483681" r:id="rId7"/>
    <p:sldLayoutId id="2147483682" r:id="rId8"/>
    <p:sldLayoutId id="2147483675" r:id="rId9"/>
    <p:sldLayoutId id="2147483650" r:id="rId10"/>
    <p:sldLayoutId id="2147483683" r:id="rId11"/>
    <p:sldLayoutId id="2147483684" r:id="rId12"/>
    <p:sldLayoutId id="2147483652" r:id="rId13"/>
    <p:sldLayoutId id="2147483685" r:id="rId14"/>
    <p:sldLayoutId id="2147483686" r:id="rId15"/>
    <p:sldLayoutId id="2147483659" r:id="rId16"/>
    <p:sldLayoutId id="2147483687" r:id="rId17"/>
    <p:sldLayoutId id="2147483688" r:id="rId18"/>
    <p:sldLayoutId id="2147483660" r:id="rId19"/>
    <p:sldLayoutId id="2147483689" r:id="rId20"/>
    <p:sldLayoutId id="2147483690" r:id="rId21"/>
    <p:sldLayoutId id="2147483677" r:id="rId22"/>
    <p:sldLayoutId id="2147483691" r:id="rId23"/>
    <p:sldLayoutId id="2147483692" r:id="rId24"/>
    <p:sldLayoutId id="2147483676" r:id="rId25"/>
    <p:sldLayoutId id="2147483667" r:id="rId26"/>
    <p:sldLayoutId id="2147483693" r:id="rId27"/>
    <p:sldLayoutId id="2147483694" r:id="rId28"/>
    <p:sldLayoutId id="2147483666" r:id="rId29"/>
    <p:sldLayoutId id="2147483661" r:id="rId30"/>
    <p:sldLayoutId id="2147483695" r:id="rId31"/>
    <p:sldLayoutId id="2147483696" r:id="rId32"/>
    <p:sldLayoutId id="2147483669" r:id="rId33"/>
    <p:sldLayoutId id="2147483697" r:id="rId34"/>
    <p:sldLayoutId id="2147483698" r:id="rId35"/>
    <p:sldLayoutId id="2147483678" r:id="rId36"/>
    <p:sldLayoutId id="2147483699" r:id="rId37"/>
    <p:sldLayoutId id="2147483700" r:id="rId38"/>
    <p:sldLayoutId id="2147483662" r:id="rId39"/>
    <p:sldLayoutId id="2147483701" r:id="rId40"/>
    <p:sldLayoutId id="2147483702" r:id="rId41"/>
    <p:sldLayoutId id="2147483663" r:id="rId42"/>
    <p:sldLayoutId id="2147483703" r:id="rId43"/>
    <p:sldLayoutId id="2147483704" r:id="rId44"/>
    <p:sldLayoutId id="2147483664" r:id="rId45"/>
    <p:sldLayoutId id="2147483705" r:id="rId46"/>
    <p:sldLayoutId id="2147483706" r:id="rId47"/>
    <p:sldLayoutId id="2147483665" r:id="rId48"/>
    <p:sldLayoutId id="2147483671" r:id="rId49"/>
    <p:sldLayoutId id="2147483707" r:id="rId50"/>
    <p:sldLayoutId id="2147483708" r:id="rId51"/>
    <p:sldLayoutId id="2147483670" r:id="rId52"/>
    <p:sldLayoutId id="2147483672" r:id="rId53"/>
    <p:sldLayoutId id="2147483674" r:id="rId54"/>
    <p:sldLayoutId id="2147483709" r:id="rId55"/>
    <p:sldLayoutId id="2147483710" r:id="rId56"/>
    <p:sldLayoutId id="2147483673" r:id="rId57"/>
    <p:sldLayoutId id="2147483654" r:id="rId58"/>
    <p:sldLayoutId id="2147483711" r:id="rId59"/>
    <p:sldLayoutId id="2147483712" r:id="rId60"/>
    <p:sldLayoutId id="2147483655" r:id="rId61"/>
    <p:sldLayoutId id="2147483713" r:id="rId62"/>
    <p:sldLayoutId id="2147483714" r:id="rId63"/>
  </p:sldLayoutIdLst>
  <p:transition>
    <p:fade/>
  </p:transition>
  <p:hf hdr="0"/>
  <p:txStyles>
    <p:titleStyle>
      <a:lvl1pPr algn="l" defTabSz="685765" rtl="0" eaLnBrk="1" latinLnBrk="0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685765" rtl="0" eaLnBrk="1" latinLnBrk="0" hangingPunct="1">
        <a:lnSpc>
          <a:spcPct val="105000"/>
        </a:lnSpc>
        <a:spcBef>
          <a:spcPts val="0"/>
        </a:spcBef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j-lt"/>
          <a:ea typeface="+mn-ea"/>
          <a:cs typeface="+mn-cs"/>
        </a:defRPr>
      </a:lvl2pPr>
      <a:lvl3pPr marL="161991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323984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485975" indent="-161991" algn="l" defTabSz="685765" rtl="0" eaLnBrk="1" latinLnBrk="0" hangingPunct="1">
        <a:lnSpc>
          <a:spcPct val="105000"/>
        </a:lnSpc>
        <a:spcBef>
          <a:spcPts val="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53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36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18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01" indent="-171441" algn="l" defTabSz="685765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6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4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3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12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95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77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060" algn="l" defTabSz="685765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3" pos="206" userDrawn="1">
          <p15:clr>
            <a:srgbClr val="F26B43"/>
          </p15:clr>
        </p15:guide>
        <p15:guide id="4" pos="7475" userDrawn="1">
          <p15:clr>
            <a:srgbClr val="F26B43"/>
          </p15:clr>
        </p15:guide>
        <p15:guide id="5" orient="horz" pos="207" userDrawn="1">
          <p15:clr>
            <a:srgbClr val="F26B43"/>
          </p15:clr>
        </p15:guide>
        <p15:guide id="6" orient="horz" pos="4114" userDrawn="1">
          <p15:clr>
            <a:srgbClr val="F26B43"/>
          </p15:clr>
        </p15:guide>
        <p15:guide id="7" orient="horz" pos="3944" userDrawn="1">
          <p15:clr>
            <a:srgbClr val="F26B43"/>
          </p15:clr>
        </p15:guide>
        <p15:guide id="8" orient="horz" pos="879" userDrawn="1">
          <p15:clr>
            <a:srgbClr val="F26B43"/>
          </p15:clr>
        </p15:guide>
        <p15:guide id="9" pos="3723" userDrawn="1">
          <p15:clr>
            <a:srgbClr val="F26B43"/>
          </p15:clr>
        </p15:guide>
        <p15:guide id="10" pos="395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Adaptive Skill and Stake</a:t>
            </a:r>
          </a:p>
          <a:p>
            <a:r>
              <a:t>in Forecast Markets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Coupling Self-Financed Wagering with Online Skill Learning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Anastasia Cattaneo</a:t>
            </a:r>
          </a:p>
          <a:p>
            <a:r>
              <a:t>Imperial College London — Dyson School of Design Engineering</a:t>
            </a:r>
          </a:p>
          <a:p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Forecast Aggregation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400">
                <a:solidFill>
                  <a:srgbClr val="003E74"/>
                </a:solidFill>
              </a:rPr>
              <a:t>Combining forecasts reduces error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Different sources capture different aspects of reality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Averaging out individual errors improves collective accuracy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003E74"/>
                </a:solidFill>
              </a:rPr>
              <a:t>Modern standard: probabilistic forecasts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Full distributions, not point estimates (Gneiting &amp; Raftery, 2007)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Quality measured by strictly proper scoring rules (e.g. CRPS)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Strictly proper → only way to maximise score is to report true belief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003E74"/>
                </a:solidFill>
              </a:rPr>
              <a:t>Open question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How to incentivise participation?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How to decide whose forecast should count more?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Markets as a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400">
                <a:solidFill>
                  <a:srgbClr val="003E74"/>
                </a:solidFill>
              </a:rPr>
              <a:t>Mechanism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Data owners share predictions (not raw data)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Rewarded based on forecast accuracy after outcome observed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Market aggregates individual predictions into collective view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003E74"/>
                </a:solidFill>
              </a:rPr>
              <a:t>Real platforms</a:t>
            </a:r>
          </a:p>
          <a:p>
            <a:pPr lvl="1">
              <a:defRPr sz="1400">
                <a:solidFill>
                  <a:srgbClr val="333333"/>
                </a:solidFill>
              </a:defRPr>
            </a:pPr>
            <a:r>
              <a:t>Numerai (data science tournaments), Polymarket, Kalshi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400">
                <a:solidFill>
                  <a:srgbClr val="003E74"/>
                </a:solidFill>
              </a:rPr>
              <a:t>Evidence of problems</a:t>
            </a:r>
          </a:p>
          <a:p>
            <a:pPr lvl="1"/>
            <a:r>
              <a:rPr b="0" sz="1300">
                <a:solidFill>
                  <a:srgbClr val="DD2220"/>
                </a:solidFill>
              </a:rPr>
              <a:t>Wash trading ~60% of Polymarket weekly volume (Sirolly et al., 2025)</a:t>
            </a:r>
          </a:p>
          <a:p>
            <a:pPr lvl="1"/>
            <a:r>
              <a:rPr b="0" sz="1300">
                <a:solidFill>
                  <a:srgbClr val="DD2220"/>
                </a:solidFill>
              </a:rPr>
              <a:t>Prices driven by small core of active traders, not broad wisdom (Wu, 2025)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b="1" sz="1500">
                <a:solidFill>
                  <a:srgbClr val="02893B"/>
                </a:solidFill>
              </a:rPr>
              <a:t>→ Need mechanisms with formal guarantees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Self-Financed Wagering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Lambert et al. (2008)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Weighted-score mechanism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7 properties; uniqueness result</a:t>
            </a:r>
          </a:p>
          <a:p>
            <a:pPr>
              <a:spcBef>
                <a:spcPts val="400"/>
              </a:spcBef>
            </a:pP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Raja et al. (2024)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Added client + utility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Conditionally truthful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Wind energy case study</a:t>
            </a:r>
          </a:p>
          <a:p>
            <a:pPr>
              <a:spcBef>
                <a:spcPts val="400"/>
              </a:spcBef>
            </a:pPr>
          </a:p>
          <a:p>
            <a:pPr lvl="1"/>
            <a:r>
              <a:rPr b="0" sz="1000">
                <a:solidFill>
                  <a:srgbClr val="DD2220"/>
                </a:solidFill>
              </a:rPr>
              <a:t>Limitation: history-free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Online Aggregation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OGD / Hedge algorithms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Learns time-varying weights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Regret guarantees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</a:p>
          <a:p>
            <a:pPr lvl="1"/>
            <a:r>
              <a:rPr b="0" sz="1000">
                <a:solidFill>
                  <a:srgbClr val="DD2220"/>
                </a:solidFill>
              </a:rPr>
              <a:t>Non-strategic assumption</a:t>
            </a:r>
          </a:p>
          <a:p>
            <a:pPr lvl="1"/>
            <a:r>
              <a:rPr b="0" sz="1000">
                <a:solidFill>
                  <a:srgbClr val="DD2220"/>
                </a:solidFill>
              </a:rPr>
              <a:t>No payments or incentives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5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Intermittent Contributions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Vitali &amp; Pinson (2025)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Correction matrix for missing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OGD on pinball loss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Shapley + scoring payoff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Belgian offshore wind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</a:p>
          <a:p>
            <a:pPr lvl="1"/>
            <a:r>
              <a:rPr b="0" sz="1000">
                <a:solidFill>
                  <a:srgbClr val="DD2220"/>
                </a:solidFill>
              </a:rPr>
              <a:t>Relative weights on simplex</a:t>
            </a:r>
          </a:p>
          <a:p>
            <a:pPr lvl="1"/>
            <a:r>
              <a:rPr b="0" sz="1000">
                <a:solidFill>
                  <a:srgbClr val="DD2220"/>
                </a:solidFill>
              </a:rPr>
              <a:t>Different settlement structure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/>
              <a:t>No existing design couples self-financed wagering with an online skill-learning layer</a:t>
            </a:r>
          </a:p>
          <a:p>
            <a:pPr>
              <a:spcBef>
                <a:spcPts val="2000"/>
              </a:spcBef>
            </a:pPr>
            <a:r>
              <a:rPr sz="2000" b="1"/>
              <a:t>Contribution: effective wager = deposit × learned skill</a:t>
            </a:r>
          </a:p>
          <a:p>
            <a:pPr>
              <a:spcBef>
                <a:spcPts val="1600"/>
              </a:spcBef>
            </a:pPr>
            <a:r>
              <a:rPr sz="1600"/>
              <a:t>• Absolute (not relative)  • Pre-round (preserves truthfulness)  • Handles intermittency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Mechanism Design and Implementation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Mechanism: Round-by-Round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Five steps per round: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1. Submit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Player submits quantile forecast + deposit (wealth × confidence)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2. Skill Gate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Effective wager = deposit × skill factor; remainder refunded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3. Aggregate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Weighted combination using effective wagers as weights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4. Settle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Payoff redistributes wager pool by relative scores (budget-balanced)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5. Update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Loss → EWMA → skill recomputed; wealth updated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b="1" sz="1400">
                <a:solidFill>
                  <a:srgbClr val="02893B"/>
                </a:solidFill>
              </a:rPr>
              <a:t>Same effective wager controls BOTH influence and exposure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Skill Signal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Core Innovation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When present: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Loss state blends previous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value with current round loss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(EWMA with learning rate ρ)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When absent: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Loss state reverts toward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neutral baseline (staleness decay)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Mapping: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Exponential: loss → skill ∈ [σ_min, 1]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Key difference from Vitali-Pinson: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Absolute skill (not relative)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One forecaster improves without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reducing another's weight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pic>
        <p:nvPicPr>
          <p:cNvPr id="6" name="Picture 5" descr="quantiles_crps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642717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and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Three-layer modular separation: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Environment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Data-generating processes (exogenous/endogenous truth)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Agents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Behaviour policies: honest, noisy, risk-averse, sybil, arbitrageur, colluder, wash trader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Each outputs: (participate?, report, deposit) — core does not know motives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Platform (deterministic, side-effect-free)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Scoring → Aggregation → Settlement → Skill update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Implementation: onlinev2 Python package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20+ invariant tests; property-based testing (Hypothesis)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Experiment ladder: correctness → forecasting → dynamics → strategy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Experimental Results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Correctness: The Mechanism 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1000 rounds, 20 seeds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Budget Balance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Max gap: 2.84 × 10⁻¹⁴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Mean profit: 3.01 × 10⁻¹⁷</a:t>
            </a:r>
          </a:p>
          <a:p>
            <a:pPr lvl="2">
              <a:defRPr sz="900">
                <a:solidFill>
                  <a:srgbClr val="666666"/>
                </a:solidFill>
              </a:defRPr>
            </a:pPr>
            <a:r>
              <a:t>(machine precision)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Sybilproofness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Identical reports ratio: 1.000000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Max |Δ|: 2.07 × 10⁻¹⁷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Scoring Invariants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Pinball ≥ 0 ✓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CRPS ≥ 0 ✓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Perfect beats shifted ✓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CRPS bounded ✓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b="1" sz="1200">
                <a:solidFill>
                  <a:srgbClr val="02893B"/>
                </a:solidFill>
              </a:rPr>
              <a:t>All 20+ tests PASS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pic>
        <p:nvPicPr>
          <p:cNvPr id="6" name="Picture 5" descr="settlement_san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6621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Deposit Design Is the Strongest Lever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Key Finding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003E74"/>
                </a:solidFill>
              </a:rPr>
              <a:t>Deposit policy comparison</a:t>
            </a:r>
          </a:p>
          <a:p>
            <a:pPr lvl="2">
              <a:defRPr sz="1000">
                <a:solidFill>
                  <a:srgbClr val="666666"/>
                </a:solidFill>
              </a:defRPr>
            </a:pPr>
            <a:r>
              <a:t>(mechanism weight rule, 20 seeds)</a:t>
            </a:r>
          </a:p>
          <a:p>
            <a:pPr>
              <a:spcBef>
                <a:spcPts val="400"/>
              </a:spcBef>
            </a:pP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IID Exponential:    0.0456 ± 0.0003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Fixed Unit (b=1):   0.0423 ± 0.0002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Bankroll + Conf:    0.0375 ± 0.0001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Oracle Precision:   0.0227 ± 0.0001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b="1" sz="1300">
                <a:solidFill>
                  <a:srgbClr val="02893B"/>
                </a:solidFill>
              </a:rPr>
              <a:t>Bankroll vs Fixed: −11.3%</a:t>
            </a:r>
          </a:p>
          <a:p>
            <a:pPr/>
            <a:r>
              <a:rPr b="1" sz="1300">
                <a:solidFill>
                  <a:srgbClr val="02893B"/>
                </a:solidFill>
              </a:rPr>
              <a:t>Oracle vs Fixed:   −46.3%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03E74"/>
                </a:solidFill>
              </a:rPr>
              <a:t>Implication: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How stake enters the system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matters more than the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weighting rule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pic>
        <p:nvPicPr>
          <p:cNvPr id="6" name="Picture 5" descr="deposit_poli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011680"/>
            <a:ext cx="6858000" cy="29559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Weight Rules and the Combination Puzzle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Under fixed deposits: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Uniform:     0.0434 ± 0.0002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Deposit:     0.0434 ± 0.0002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Skill:       0.0419 ± 0.0002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Mechanism:   0.0423 ± 0.0002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Best single: 0.0232 ± 0.0001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b="1" sz="1200">
                <a:solidFill>
                  <a:srgbClr val="02893B"/>
                </a:solidFill>
              </a:rPr>
              <a:t>Skill vs uniform: −3.5%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Under bankroll deposits: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Deposit only: 0.0230 ± 0.0001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Mechanism:    0.0375 ± 0.0001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Forecast combination puzzle: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Equal weights hard to beat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(Wang et al., 2023)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pic>
        <p:nvPicPr>
          <p:cNvPr id="6" name="Picture 5" descr="weight_rul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642103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Recovery and Dynamic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Skill recovery results (quantiles_crps mode):</a:t>
            </a:r>
          </a:p>
          <a:p>
            <a:pPr>
              <a:spcBef>
                <a:spcPts val="400"/>
              </a:spcBef>
            </a:pPr>
          </a:p>
          <a:p>
            <a:pPr lvl="2">
              <a:defRPr sz="1100">
                <a:solidFill>
                  <a:srgbClr val="666666"/>
                </a:solidFill>
              </a:defRPr>
            </a:pPr>
            <a:r>
              <a:t>f0: τ=0.15  →  loss=0.023  →  σ=0.959</a:t>
            </a:r>
          </a:p>
          <a:p>
            <a:pPr lvl="2">
              <a:defRPr sz="1100">
                <a:solidFill>
                  <a:srgbClr val="666666"/>
                </a:solidFill>
              </a:defRPr>
            </a:pPr>
            <a:r>
              <a:t>f1: τ=0.22  →  loss=0.033  →  σ=0.942</a:t>
            </a:r>
          </a:p>
          <a:p>
            <a:pPr lvl="2">
              <a:defRPr sz="1100">
                <a:solidFill>
                  <a:srgbClr val="666666"/>
                </a:solidFill>
              </a:defRPr>
            </a:pPr>
            <a:r>
              <a:t>f2: τ=0.32  →  loss=0.047  →  σ=0.919</a:t>
            </a:r>
          </a:p>
          <a:p>
            <a:pPr lvl="2">
              <a:defRPr sz="1100">
                <a:solidFill>
                  <a:srgbClr val="666666"/>
                </a:solidFill>
              </a:defRPr>
            </a:pPr>
            <a:r>
              <a:t>f3: τ=0.46  →  loss=0.066  →  σ=0.890</a:t>
            </a:r>
          </a:p>
          <a:p>
            <a:pPr lvl="2">
              <a:defRPr sz="1100">
                <a:solidFill>
                  <a:srgbClr val="666666"/>
                </a:solidFill>
              </a:defRPr>
            </a:pPr>
            <a:r>
              <a:t>f4: τ=0.68  →  loss=0.089  →  σ=0.854</a:t>
            </a:r>
          </a:p>
          <a:p>
            <a:pPr lvl="2">
              <a:defRPr sz="1100">
                <a:solidFill>
                  <a:srgbClr val="666666"/>
                </a:solidFill>
              </a:defRPr>
            </a:pPr>
            <a:r>
              <a:t>f5: τ=1.00  →  loss=0.112  →  σ=0.820</a:t>
            </a:r>
          </a:p>
          <a:p>
            <a:pPr>
              <a:spcBef>
                <a:spcPts val="400"/>
              </a:spcBef>
            </a:pPr>
          </a:p>
          <a:p>
            <a:pPr/>
            <a:r>
              <a:rPr b="1" sz="1400">
                <a:solidFill>
                  <a:srgbClr val="02893B"/>
                </a:solidFill>
              </a:rPr>
              <a:t>Spearman rank correlation (τ vs σ): 1.0000</a:t>
            </a:r>
          </a:p>
          <a:p>
            <a:pPr/>
            <a:r>
              <a:rPr b="1" sz="1400">
                <a:solidFill>
                  <a:srgbClr val="02893B"/>
                </a:solidFill>
              </a:rPr>
              <a:t>Perfect rank recovery in both point and quantile modes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300">
                <a:solidFill>
                  <a:srgbClr val="003E74"/>
                </a:solidFill>
              </a:rPr>
              <a:t>Staleness decay: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Absent forecasters revert toward baseline</a:t>
            </a:r>
          </a:p>
          <a:p>
            <a:pPr lvl="1">
              <a:defRPr sz="1300">
                <a:solidFill>
                  <a:srgbClr val="333333"/>
                </a:solidFill>
              </a:defRPr>
            </a:pPr>
            <a:r>
              <a:t>→ removes incentive for strategic absence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T=20000, 6 forecasters, 20 seeds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Robustness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Sybil attacks (identical reports):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Profit ratio: 1.000000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Max |Δ|: 2.07 × 10⁻¹⁷</a:t>
            </a:r>
          </a:p>
          <a:p>
            <a:pPr/>
            <a:r>
              <a:rPr b="1" sz="1200">
                <a:solidFill>
                  <a:srgbClr val="02893B"/>
                </a:solidFill>
              </a:rPr>
              <a:t>No advantage from splitting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Sybil (diversified reports):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Ratio: 1.065</a:t>
            </a:r>
          </a:p>
          <a:p>
            <a:pPr lvl="1"/>
            <a:r>
              <a:rPr b="0" sz="1000">
                <a:solidFill>
                  <a:srgbClr val="DD2220"/>
                </a:solidFill>
              </a:rPr>
              <a:t>Slight advantage (known limit)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Strategic deposit manipulation: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Ratio: 1.000000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Arbitrage (Chen et al., 2014):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Zero profit in repeated setting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Skill gate limits sustained exploit</a:t>
            </a:r>
          </a:p>
          <a:p>
            <a:pPr>
              <a:spcBef>
                <a:spcPts val="400"/>
              </a:spcBef>
            </a:pPr>
          </a:p>
          <a:p>
            <a:pPr lvl="1"/>
            <a:r>
              <a:rPr b="0" sz="1000">
                <a:solidFill>
                  <a:srgbClr val="DD2220"/>
                </a:solidFill>
              </a:rPr>
              <a:t>Adaptive adversaries: open challenge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pic>
        <p:nvPicPr>
          <p:cNvPr id="6" name="Picture 5" descr="syb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2286000"/>
            <a:ext cx="7132320" cy="21939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Known Limitation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Reliability (latent-fixed DGP)</a:t>
            </a:r>
          </a:p>
          <a:p>
            <a:pPr lvl="2">
              <a:defRPr sz="900">
                <a:solidFill>
                  <a:srgbClr val="666666"/>
                </a:solidFill>
              </a:defRPr>
            </a:pPr>
            <a:r>
              <a:t>T=20000, 10 forecasters, 20 seeds</a:t>
            </a:r>
          </a:p>
          <a:p>
            <a:pPr>
              <a:spcBef>
                <a:spcPts val="400"/>
              </a:spcBef>
            </a:pP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τ=0.10:  p̂=0.054  (dev: −0.046)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τ=0.25:  p̂=0.194  (dev: −0.056)</a:t>
            </a:r>
          </a:p>
          <a:p>
            <a:pPr/>
            <a:r>
              <a:rPr b="1" sz="1200">
                <a:solidFill>
                  <a:srgbClr val="02893B"/>
                </a:solidFill>
              </a:rPr>
              <a:t>τ=0.50:  p̂=0.499  (dev: −0.001)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τ=0.75:  p̂=0.804  (dev: +0.054)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τ=0.90:  p̂=0.945  (dev: +0.045)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Median: nearly perfect</a:t>
            </a:r>
          </a:p>
          <a:p>
            <a:pPr lvl="1"/>
            <a:r>
              <a:rPr b="0" sz="1000">
                <a:solidFill>
                  <a:srgbClr val="DD2220"/>
                </a:solidFill>
              </a:rPr>
              <a:t>Tails: ~5pp systematic under-dispersion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03E74"/>
                </a:solidFill>
              </a:rPr>
              <a:t>Inherent to quantile averaging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Shared across all weighting methods</a:t>
            </a:r>
          </a:p>
          <a:p>
            <a:pPr lvl="1">
              <a:defRPr sz="1100">
                <a:solidFill>
                  <a:srgbClr val="333333"/>
                </a:solidFill>
              </a:defRPr>
            </a:pPr>
            <a:r>
              <a:t>Not specific to this mechanism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/>
        </p:txBody>
      </p:sp>
      <p:pic>
        <p:nvPicPr>
          <p:cNvPr id="6" name="Picture 5" descr="calibration_reli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88720"/>
            <a:ext cx="466395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Contributions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003E74"/>
                </a:solidFill>
              </a:rPr>
              <a:t>Contributions</a:t>
            </a:r>
          </a:p>
          <a:p>
            <a:pPr>
              <a:spcBef>
                <a:spcPts val="400"/>
              </a:spcBef>
            </a:pP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1. Mechanism coupling wagering</a:t>
            </a:r>
          </a:p>
          <a:p>
            <a:pPr lvl="2">
              <a:defRPr sz="1000">
                <a:solidFill>
                  <a:srgbClr val="666666"/>
                </a:solidFill>
              </a:defRPr>
            </a:pPr>
            <a:r>
              <a:t>with online skill learning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2. Budget balance &lt; 10⁻¹⁴</a:t>
            </a:r>
          </a:p>
          <a:p>
            <a:pPr lvl="2">
              <a:defRPr sz="1000">
                <a:solidFill>
                  <a:srgbClr val="666666"/>
                </a:solidFill>
              </a:defRPr>
            </a:pPr>
            <a:r>
              <a:t>Sybilproof (ratio = 1.000000)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3. Deposit design: −11.3% CRPS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4. Skill recovery: ρ = 1.0000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5. Sybil-resistant; no arbitrage</a:t>
            </a:r>
          </a:p>
          <a:p>
            <a:pPr lvl="1">
              <a:defRPr sz="1200">
                <a:solidFill>
                  <a:srgbClr val="333333"/>
                </a:solidFill>
              </a:defRPr>
            </a:pPr>
            <a:r>
              <a:t>6. Modular platform + test suite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spcBef>
                <a:spcPts val="800"/>
              </a:spcBef>
            </a:pPr>
            <a:r>
              <a:rPr b="1" sz="1200">
                <a:solidFill>
                  <a:srgbClr val="003E74"/>
                </a:solidFill>
              </a:rPr>
              <a:t>Limitations</a:t>
            </a:r>
          </a:p>
          <a:p>
            <a:pPr>
              <a:spcBef>
                <a:spcPts val="400"/>
              </a:spcBef>
            </a:pPr>
          </a:p>
          <a:p>
            <a:pPr lvl="1"/>
            <a:r>
              <a:rPr b="0" sz="1100">
                <a:solidFill>
                  <a:srgbClr val="DD2220"/>
                </a:solidFill>
              </a:rPr>
              <a:t>Tail calibration: ~5pp under-dispersion</a:t>
            </a:r>
          </a:p>
          <a:p>
            <a:pPr lvl="1"/>
            <a:r>
              <a:rPr b="0" sz="1100">
                <a:solidFill>
                  <a:srgbClr val="DD2220"/>
                </a:solidFill>
              </a:rPr>
              <a:t>Equal weights competitive in some configs</a:t>
            </a:r>
          </a:p>
          <a:p>
            <a:pPr lvl="1"/>
            <a:r>
              <a:rPr b="0" sz="1100">
                <a:solidFill>
                  <a:srgbClr val="DD2220"/>
                </a:solidFill>
              </a:rPr>
              <a:t>Truthfulness: risk-neutrality assumption</a:t>
            </a:r>
          </a:p>
          <a:p>
            <a:pPr lvl="1"/>
            <a:r>
              <a:rPr b="0" sz="1100">
                <a:solidFill>
                  <a:srgbClr val="DD2220"/>
                </a:solidFill>
              </a:rPr>
              <a:t>All synthetic data — no deployment</a:t>
            </a:r>
          </a:p>
          <a:p>
            <a:pPr>
              <a:spcBef>
                <a:spcPts val="400"/>
              </a:spcBef>
            </a:pPr>
          </a:p>
          <a:p>
            <a:pPr>
              <a:spcBef>
                <a:spcPts val="400"/>
              </a:spcBef>
            </a:pPr>
          </a:p>
          <a:p>
            <a:pPr>
              <a:spcBef>
                <a:spcPts val="800"/>
              </a:spcBef>
            </a:pPr>
            <a:r>
              <a:rPr b="1" sz="1200">
                <a:solidFill>
                  <a:srgbClr val="003E74"/>
                </a:solidFill>
              </a:rPr>
              <a:t>Key takeaway:</a:t>
            </a:r>
          </a:p>
          <a:p>
            <a:pPr/>
            <a:r>
              <a:rPr b="1" sz="1300">
                <a:solidFill>
                  <a:srgbClr val="02893B"/>
                </a:solidFill>
              </a:rPr>
              <a:t>Strongest lever is deposit design,</a:t>
            </a:r>
          </a:p>
          <a:p>
            <a:pPr/>
            <a:r>
              <a:rPr b="1" sz="1300">
                <a:solidFill>
                  <a:srgbClr val="02893B"/>
                </a:solidFill>
              </a:rPr>
              <a:t>not the weighting rule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Anastasia Cattaneo</a:t>
            </a:r>
          </a:p>
          <a:p>
            <a:r>
              <a:t>Imperial College London — Dyson School of Design Engineering</a:t>
            </a:r>
          </a:p>
          <a:p>
            <a:r>
              <a:t>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CL PPT Theme">
  <a:themeElements>
    <a:clrScheme name="Imperial colour theme">
      <a:dk1>
        <a:sysClr val="windowText" lastClr="000000"/>
      </a:dk1>
      <a:lt1>
        <a:sysClr val="window" lastClr="FFFFFF"/>
      </a:lt1>
      <a:dk2>
        <a:srgbClr val="000080"/>
      </a:dk2>
      <a:lt2>
        <a:srgbClr val="F5F5F5"/>
      </a:lt2>
      <a:accent1>
        <a:srgbClr val="0000CD"/>
      </a:accent1>
      <a:accent2>
        <a:srgbClr val="C71585"/>
      </a:accent2>
      <a:accent3>
        <a:srgbClr val="7B68EE"/>
      </a:accent3>
      <a:accent4>
        <a:srgbClr val="FF0000"/>
      </a:accent4>
      <a:accent5>
        <a:srgbClr val="FF4500"/>
      </a:accent5>
      <a:accent6>
        <a:srgbClr val="006400"/>
      </a:accent6>
      <a:hlink>
        <a:srgbClr val="000080"/>
      </a:hlink>
      <a:folHlink>
        <a:srgbClr val="C71585"/>
      </a:folHlink>
    </a:clrScheme>
    <a:fontScheme name="Imperial College Standard Font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05000"/>
          </a:lnSpc>
          <a:defRPr sz="1600" dirty="0">
            <a:solidFill>
              <a:schemeClr val="tx1"/>
            </a:solidFill>
          </a:defRPr>
        </a:defPPr>
      </a:lstStyle>
    </a:txDef>
  </a:objectDefaults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Arial_Imperial_PowerPoint_16_9_simplified template_with_instrucs" id="{E2003566-CB3B-AF4B-AC63-3C69992DFC2C}" vid="{F435D263-C53D-E44B-AFB4-0237A8A90C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">
      <a:srgbClr val="232333"/>
    </a:custClr>
    <a:custClr name="Navy">
      <a:srgbClr val="000080"/>
    </a:custClr>
    <a:custClr name="Saddle Brown">
      <a:srgbClr val="8B4513"/>
    </a:custClr>
    <a:custClr name="Teal">
      <a:srgbClr val="008080"/>
    </a:custClr>
    <a:custClr name="Medium Violet Red">
      <a:srgbClr val="C71585"/>
    </a:custClr>
    <a:custClr name="Indigo">
      <a:srgbClr val="4B0082"/>
    </a:custClr>
    <a:custClr name="Crimson">
      <a:srgbClr val="DC143C"/>
    </a:custClr>
    <a:custClr name="Orange Red">
      <a:srgbClr val="FF4500"/>
    </a:custClr>
    <a:custClr name="Dark Green">
      <a:srgbClr val="006400"/>
    </a:custClr>
    <a:custClr>
      <a:srgbClr val="FFFFFF"/>
    </a:custClr>
    <a:custClr name="Slate Grey">
      <a:srgbClr val="708090"/>
    </a:custClr>
    <a:custClr name="Imperial Blue">
      <a:srgbClr val="0000CD"/>
    </a:custClr>
    <a:custClr name="Yellow">
      <a:srgbClr val="FFFF00"/>
    </a:custClr>
    <a:custClr name="Turquoise">
      <a:srgbClr val="40E0D0"/>
    </a:custClr>
    <a:custClr name="Violet">
      <a:srgbClr val="EE82EE"/>
    </a:custClr>
    <a:custClr name="Medium Blue Slate">
      <a:srgbClr val="7B68EE"/>
    </a:custClr>
    <a:custClr name="Red">
      <a:srgbClr val="FF0000"/>
    </a:custClr>
    <a:custClr name="Dark Orange">
      <a:srgbClr val="FF8C00"/>
    </a:custClr>
    <a:custClr name="Spring Green">
      <a:srgbClr val="00FF7F"/>
    </a:custClr>
    <a:custClr>
      <a:srgbClr val="FFFFFF"/>
    </a:custClr>
    <a:custClr name="White Smoke">
      <a:srgbClr val="F5F5F5"/>
    </a:custClr>
    <a:custClr name="Deep Sky Blue">
      <a:srgbClr val="00BFFF"/>
    </a:custClr>
    <a:custClr name="Khaki">
      <a:srgbClr val="F0E68C"/>
    </a:custClr>
    <a:custClr name="Pale Turquoise">
      <a:srgbClr val="AFEEEE"/>
    </a:custClr>
    <a:custClr name="Light Pink">
      <a:srgbClr val="FFB6C1"/>
    </a:custClr>
    <a:custClr name="Lavender">
      <a:srgbClr val="E6E6FA"/>
    </a:custClr>
    <a:custClr name="Salmon">
      <a:srgbClr val="FA8072"/>
    </a:custClr>
    <a:custClr name="Orange">
      <a:srgbClr val="FFA500"/>
    </a:custClr>
    <a:custClr name="Pale Green">
      <a:srgbClr val="98FB9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1e2927-7a8e-4755-b112-de5aaecc1c06">
      <Terms xmlns="http://schemas.microsoft.com/office/infopath/2007/PartnerControls"/>
    </lcf76f155ced4ddcb4097134ff3c332f>
    <TaxCatchAll xmlns="d0201ca7-26fa-426c-b12d-c4c6e5857dc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99AEDE06C8B0342A6C4D20B29F8488E" ma:contentTypeVersion="16" ma:contentTypeDescription="Create a new document." ma:contentTypeScope="" ma:versionID="a4578b94c4c0df5c4f162bb3027c7c05">
  <xsd:schema xmlns:xsd="http://www.w3.org/2001/XMLSchema" xmlns:xs="http://www.w3.org/2001/XMLSchema" xmlns:p="http://schemas.microsoft.com/office/2006/metadata/properties" xmlns:ns2="6d1e2927-7a8e-4755-b112-de5aaecc1c06" xmlns:ns3="df1ede62-d5df-40e3-a8ec-fa53b1631612" xmlns:ns4="d0201ca7-26fa-426c-b12d-c4c6e5857dcc" targetNamespace="http://schemas.microsoft.com/office/2006/metadata/properties" ma:root="true" ma:fieldsID="8c51cfd87b0abe227219b0f2986567bc" ns2:_="" ns3:_="" ns4:_="">
    <xsd:import namespace="6d1e2927-7a8e-4755-b112-de5aaecc1c06"/>
    <xsd:import namespace="df1ede62-d5df-40e3-a8ec-fa53b1631612"/>
    <xsd:import namespace="d0201ca7-26fa-426c-b12d-c4c6e5857dc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1e2927-7a8e-4755-b112-de5aaecc1c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4661dae-d6df-48fc-a54e-a577d2899e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1ede62-d5df-40e3-a8ec-fa53b163161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201ca7-26fa-426c-b12d-c4c6e5857dcc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04698054-6ef3-4a0a-8632-c02544f20d65}" ma:internalName="TaxCatchAll" ma:showField="CatchAllData" ma:web="d0201ca7-26fa-426c-b12d-c4c6e5857d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D7BB4C6-127E-40DB-83D0-BAD626190316}">
  <ds:schemaRefs>
    <ds:schemaRef ds:uri="http://schemas.openxmlformats.org/package/2006/metadata/core-properties"/>
    <ds:schemaRef ds:uri="df1ede62-d5df-40e3-a8ec-fa53b1631612"/>
    <ds:schemaRef ds:uri="http://schemas.microsoft.com/office/2006/documentManagement/types"/>
    <ds:schemaRef ds:uri="http://purl.org/dc/dcmitype/"/>
    <ds:schemaRef ds:uri="6d1e2927-7a8e-4755-b112-de5aaecc1c06"/>
    <ds:schemaRef ds:uri="http://www.w3.org/XML/1998/namespace"/>
    <ds:schemaRef ds:uri="http://schemas.microsoft.com/office/2006/metadata/properties"/>
    <ds:schemaRef ds:uri="http://purl.org/dc/elements/1.1/"/>
    <ds:schemaRef ds:uri="http://purl.org/dc/terms/"/>
    <ds:schemaRef ds:uri="http://schemas.microsoft.com/office/infopath/2007/PartnerControls"/>
    <ds:schemaRef ds:uri="d0201ca7-26fa-426c-b12d-c4c6e5857dcc"/>
  </ds:schemaRefs>
</ds:datastoreItem>
</file>

<file path=customXml/itemProps2.xml><?xml version="1.0" encoding="utf-8"?>
<ds:datastoreItem xmlns:ds="http://schemas.openxmlformats.org/officeDocument/2006/customXml" ds:itemID="{0BCC2720-3352-404F-8526-0437378EE58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6D8D580-1CFD-4A82-B403-D3A047B3EE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1e2927-7a8e-4755-b112-de5aaecc1c06"/>
    <ds:schemaRef ds:uri="df1ede62-d5df-40e3-a8ec-fa53b1631612"/>
    <ds:schemaRef ds:uri="d0201ca7-26fa-426c-b12d-c4c6e5857d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ICL PPT Theme</Template>
  <TotalTime>1</TotalTime>
  <Words>914</Words>
  <Application>Microsoft Macintosh PowerPoint</Application>
  <PresentationFormat>Widescreen</PresentationFormat>
  <Paragraphs>117</Paragraphs>
  <Slides>11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Inter Medium</vt:lpstr>
      <vt:lpstr>ICL PPT Theme</vt:lpstr>
      <vt:lpstr>Presentation Title</vt:lpstr>
      <vt:lpstr>Notes to the template</vt:lpstr>
      <vt:lpstr>Notes to the template</vt:lpstr>
      <vt:lpstr>Notes to the template</vt:lpstr>
      <vt:lpstr>Notes to the template</vt:lpstr>
      <vt:lpstr>Notes to the template</vt:lpstr>
      <vt:lpstr>Agenda</vt:lpstr>
      <vt:lpstr>Example Title</vt:lpstr>
      <vt:lpstr>Large copy goes here and can break over multiple lines as required lorem ipsum dolor sit amet consectetuer.</vt:lpstr>
      <vt:lpstr>Section Title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Cattaneo, Anastasia A E</dc:creator>
  <cp:lastModifiedBy>Cattaneo, Anastasia A E</cp:lastModifiedBy>
  <cp:revision>1</cp:revision>
  <dcterms:created xsi:type="dcterms:W3CDTF">2026-04-19T16:15:37Z</dcterms:created>
  <dcterms:modified xsi:type="dcterms:W3CDTF">2026-04-19T16:16:47Z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0x010100D99AEDE06C8B0342A6C4D20B29F8488E</vt:lpwstr>
  </property>
</Properties>
</file>